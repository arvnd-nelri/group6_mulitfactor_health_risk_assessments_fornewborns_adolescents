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Canva Sans Bold" panose="020B0803030501040103" pitchFamily="34" charset="0"/>
      <p:regular r:id="rId3"/>
      <p:bold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557" autoAdjust="0"/>
  </p:normalViewPr>
  <p:slideViewPr>
    <p:cSldViewPr>
      <p:cViewPr varScale="1">
        <p:scale>
          <a:sx n="75" d="100"/>
          <a:sy n="75" d="100"/>
        </p:scale>
        <p:origin x="54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5658184" y="1581704"/>
            <a:ext cx="0" cy="8705296"/>
          </a:xfrm>
          <a:prstGeom prst="line">
            <a:avLst/>
          </a:prstGeom>
          <a:ln w="38100" cap="flat">
            <a:solidFill>
              <a:srgbClr val="4C527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536649" y="1458835"/>
            <a:ext cx="0" cy="8705296"/>
          </a:xfrm>
          <a:prstGeom prst="line">
            <a:avLst/>
          </a:prstGeom>
          <a:ln w="38100" cap="flat">
            <a:solidFill>
              <a:srgbClr val="4C527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582267"/>
            <a:chOff x="0" y="0"/>
            <a:chExt cx="4921110" cy="4167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21110" cy="416729"/>
            </a:xfrm>
            <a:custGeom>
              <a:avLst/>
              <a:gdLst/>
              <a:ahLst/>
              <a:cxnLst/>
              <a:rect l="l" t="t" r="r" b="b"/>
              <a:pathLst>
                <a:path w="4921110" h="416729">
                  <a:moveTo>
                    <a:pt x="7044" y="0"/>
                  </a:moveTo>
                  <a:lnTo>
                    <a:pt x="4914066" y="0"/>
                  </a:lnTo>
                  <a:cubicBezTo>
                    <a:pt x="4915934" y="0"/>
                    <a:pt x="4917726" y="742"/>
                    <a:pt x="4919047" y="2063"/>
                  </a:cubicBezTo>
                  <a:cubicBezTo>
                    <a:pt x="4920367" y="3384"/>
                    <a:pt x="4921110" y="5176"/>
                    <a:pt x="4921110" y="7044"/>
                  </a:cubicBezTo>
                  <a:lnTo>
                    <a:pt x="4921110" y="409685"/>
                  </a:lnTo>
                  <a:cubicBezTo>
                    <a:pt x="4921110" y="411553"/>
                    <a:pt x="4920367" y="413345"/>
                    <a:pt x="4919047" y="414666"/>
                  </a:cubicBezTo>
                  <a:cubicBezTo>
                    <a:pt x="4917726" y="415987"/>
                    <a:pt x="4915934" y="416729"/>
                    <a:pt x="4914066" y="416729"/>
                  </a:cubicBezTo>
                  <a:lnTo>
                    <a:pt x="7044" y="416729"/>
                  </a:lnTo>
                  <a:cubicBezTo>
                    <a:pt x="5176" y="416729"/>
                    <a:pt x="3384" y="415987"/>
                    <a:pt x="2063" y="414666"/>
                  </a:cubicBezTo>
                  <a:cubicBezTo>
                    <a:pt x="742" y="413345"/>
                    <a:pt x="0" y="411553"/>
                    <a:pt x="0" y="409685"/>
                  </a:cubicBezTo>
                  <a:lnTo>
                    <a:pt x="0" y="7044"/>
                  </a:lnTo>
                  <a:cubicBezTo>
                    <a:pt x="0" y="5176"/>
                    <a:pt x="742" y="3384"/>
                    <a:pt x="2063" y="2063"/>
                  </a:cubicBezTo>
                  <a:cubicBezTo>
                    <a:pt x="3384" y="742"/>
                    <a:pt x="5176" y="0"/>
                    <a:pt x="7044" y="0"/>
                  </a:cubicBezTo>
                  <a:close/>
                </a:path>
              </a:pathLst>
            </a:custGeom>
            <a:solidFill>
              <a:srgbClr val="FDE7F5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921110" cy="454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92060" y="4969794"/>
            <a:ext cx="4909814" cy="5142463"/>
            <a:chOff x="0" y="0"/>
            <a:chExt cx="1293120" cy="1354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93120" cy="1354393"/>
            </a:xfrm>
            <a:custGeom>
              <a:avLst/>
              <a:gdLst/>
              <a:ahLst/>
              <a:cxnLst/>
              <a:rect l="l" t="t" r="r" b="b"/>
              <a:pathLst>
                <a:path w="1293120" h="1354393">
                  <a:moveTo>
                    <a:pt x="0" y="0"/>
                  </a:moveTo>
                  <a:lnTo>
                    <a:pt x="1293120" y="0"/>
                  </a:lnTo>
                  <a:lnTo>
                    <a:pt x="1293120" y="1354393"/>
                  </a:lnTo>
                  <a:lnTo>
                    <a:pt x="0" y="1354393"/>
                  </a:lnTo>
                  <a:close/>
                </a:path>
              </a:pathLst>
            </a:custGeom>
            <a:solidFill>
              <a:srgbClr val="FDE7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93120" cy="1392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51565" y="1892918"/>
            <a:ext cx="5094575" cy="576521"/>
            <a:chOff x="0" y="0"/>
            <a:chExt cx="1341781" cy="15184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41781" cy="151841"/>
            </a:xfrm>
            <a:custGeom>
              <a:avLst/>
              <a:gdLst/>
              <a:ahLst/>
              <a:cxnLst/>
              <a:rect l="l" t="t" r="r" b="b"/>
              <a:pathLst>
                <a:path w="1341781" h="151841">
                  <a:moveTo>
                    <a:pt x="0" y="0"/>
                  </a:moveTo>
                  <a:lnTo>
                    <a:pt x="1341781" y="0"/>
                  </a:lnTo>
                  <a:lnTo>
                    <a:pt x="1341781" y="151841"/>
                  </a:lnTo>
                  <a:lnTo>
                    <a:pt x="0" y="151841"/>
                  </a:lnTo>
                  <a:close/>
                </a:path>
              </a:pathLst>
            </a:custGeom>
            <a:solidFill>
              <a:srgbClr val="FDE7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341781" cy="199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1"/>
                </a:lnSpc>
              </a:pPr>
              <a:r>
                <a:rPr lang="en-US" sz="192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Unlabelled Data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36961" y="2748501"/>
            <a:ext cx="5079971" cy="584297"/>
            <a:chOff x="0" y="0"/>
            <a:chExt cx="1337935" cy="1538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37935" cy="153889"/>
            </a:xfrm>
            <a:custGeom>
              <a:avLst/>
              <a:gdLst/>
              <a:ahLst/>
              <a:cxnLst/>
              <a:rect l="l" t="t" r="r" b="b"/>
              <a:pathLst>
                <a:path w="1337935" h="153889">
                  <a:moveTo>
                    <a:pt x="0" y="0"/>
                  </a:moveTo>
                  <a:lnTo>
                    <a:pt x="1337935" y="0"/>
                  </a:lnTo>
                  <a:lnTo>
                    <a:pt x="1337935" y="153889"/>
                  </a:lnTo>
                  <a:lnTo>
                    <a:pt x="0" y="153889"/>
                  </a:lnTo>
                  <a:close/>
                </a:path>
              </a:pathLst>
            </a:custGeom>
            <a:solidFill>
              <a:srgbClr val="FDE7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337935" cy="201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1"/>
                </a:lnSpc>
              </a:pPr>
              <a:r>
                <a:rPr lang="en-US" sz="192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Cleaning &amp; Processing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58867" y="3798021"/>
            <a:ext cx="5094575" cy="576521"/>
            <a:chOff x="0" y="0"/>
            <a:chExt cx="1341781" cy="15184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41781" cy="151841"/>
            </a:xfrm>
            <a:custGeom>
              <a:avLst/>
              <a:gdLst/>
              <a:ahLst/>
              <a:cxnLst/>
              <a:rect l="l" t="t" r="r" b="b"/>
              <a:pathLst>
                <a:path w="1341781" h="151841">
                  <a:moveTo>
                    <a:pt x="0" y="0"/>
                  </a:moveTo>
                  <a:lnTo>
                    <a:pt x="1341781" y="0"/>
                  </a:lnTo>
                  <a:lnTo>
                    <a:pt x="1341781" y="151841"/>
                  </a:lnTo>
                  <a:lnTo>
                    <a:pt x="0" y="151841"/>
                  </a:lnTo>
                  <a:close/>
                </a:path>
              </a:pathLst>
            </a:custGeom>
            <a:solidFill>
              <a:srgbClr val="FDE7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341781" cy="199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1"/>
                </a:lnSpc>
              </a:pPr>
              <a:r>
                <a:rPr lang="en-US" sz="192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Clustering: K-Means,GMM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39817" y="4841682"/>
            <a:ext cx="5094575" cy="1487463"/>
            <a:chOff x="0" y="0"/>
            <a:chExt cx="1341781" cy="3917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1781" cy="391760"/>
            </a:xfrm>
            <a:custGeom>
              <a:avLst/>
              <a:gdLst/>
              <a:ahLst/>
              <a:cxnLst/>
              <a:rect l="l" t="t" r="r" b="b"/>
              <a:pathLst>
                <a:path w="1341781" h="391760">
                  <a:moveTo>
                    <a:pt x="0" y="0"/>
                  </a:moveTo>
                  <a:lnTo>
                    <a:pt x="1341781" y="0"/>
                  </a:lnTo>
                  <a:lnTo>
                    <a:pt x="1341781" y="391760"/>
                  </a:lnTo>
                  <a:lnTo>
                    <a:pt x="0" y="391760"/>
                  </a:lnTo>
                  <a:close/>
                </a:path>
              </a:pathLst>
            </a:custGeom>
            <a:solidFill>
              <a:srgbClr val="FDE7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341781" cy="439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1"/>
                </a:lnSpc>
              </a:pPr>
              <a:r>
                <a:rPr lang="en-US" sz="192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Classification</a:t>
              </a:r>
            </a:p>
            <a:p>
              <a:pPr algn="ctr">
                <a:lnSpc>
                  <a:spcPts val="2701"/>
                </a:lnSpc>
              </a:pPr>
              <a:r>
                <a:rPr lang="en-US" sz="192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Logistic Regression,Decision Trees, RF,SVM,KNN,XGBoost,MLP Neural Network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39817" y="6833555"/>
            <a:ext cx="5094575" cy="2173263"/>
            <a:chOff x="0" y="0"/>
            <a:chExt cx="1341781" cy="57238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41781" cy="572382"/>
            </a:xfrm>
            <a:custGeom>
              <a:avLst/>
              <a:gdLst/>
              <a:ahLst/>
              <a:cxnLst/>
              <a:rect l="l" t="t" r="r" b="b"/>
              <a:pathLst>
                <a:path w="1341781" h="572382">
                  <a:moveTo>
                    <a:pt x="0" y="0"/>
                  </a:moveTo>
                  <a:lnTo>
                    <a:pt x="1341781" y="0"/>
                  </a:lnTo>
                  <a:lnTo>
                    <a:pt x="1341781" y="572382"/>
                  </a:lnTo>
                  <a:lnTo>
                    <a:pt x="0" y="572382"/>
                  </a:lnTo>
                  <a:close/>
                </a:path>
              </a:pathLst>
            </a:custGeom>
            <a:solidFill>
              <a:srgbClr val="FDE7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341781" cy="620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1"/>
                </a:lnSpc>
              </a:pPr>
              <a:r>
                <a:rPr lang="en-US" sz="192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Regression </a:t>
              </a:r>
            </a:p>
            <a:p>
              <a:pPr algn="ctr">
                <a:lnSpc>
                  <a:spcPts val="2701"/>
                </a:lnSpc>
              </a:pPr>
              <a:r>
                <a:rPr lang="en-US" sz="192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Linear Regression, Ridge Regression, Lasso Regression, Decision Tree,RF,Support Vector Regressor,KNN,XGBoost Regressor,MLP Neural Network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29659" y="9319432"/>
            <a:ext cx="5094575" cy="576521"/>
            <a:chOff x="0" y="0"/>
            <a:chExt cx="1341781" cy="15184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41781" cy="151841"/>
            </a:xfrm>
            <a:custGeom>
              <a:avLst/>
              <a:gdLst/>
              <a:ahLst/>
              <a:cxnLst/>
              <a:rect l="l" t="t" r="r" b="b"/>
              <a:pathLst>
                <a:path w="1341781" h="151841">
                  <a:moveTo>
                    <a:pt x="0" y="0"/>
                  </a:moveTo>
                  <a:lnTo>
                    <a:pt x="1341781" y="0"/>
                  </a:lnTo>
                  <a:lnTo>
                    <a:pt x="1341781" y="151841"/>
                  </a:lnTo>
                  <a:lnTo>
                    <a:pt x="0" y="151841"/>
                  </a:lnTo>
                  <a:close/>
                </a:path>
              </a:pathLst>
            </a:custGeom>
            <a:solidFill>
              <a:srgbClr val="FDE7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341781" cy="199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1"/>
                </a:lnSpc>
              </a:pPr>
              <a:r>
                <a:rPr lang="en-US" sz="192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Performance Evaluation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86866" y="7810112"/>
            <a:ext cx="6194187" cy="2173263"/>
            <a:chOff x="0" y="0"/>
            <a:chExt cx="1631391" cy="57238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31391" cy="572382"/>
            </a:xfrm>
            <a:custGeom>
              <a:avLst/>
              <a:gdLst/>
              <a:ahLst/>
              <a:cxnLst/>
              <a:rect l="l" t="t" r="r" b="b"/>
              <a:pathLst>
                <a:path w="1631391" h="572382">
                  <a:moveTo>
                    <a:pt x="0" y="0"/>
                  </a:moveTo>
                  <a:lnTo>
                    <a:pt x="1631391" y="0"/>
                  </a:lnTo>
                  <a:lnTo>
                    <a:pt x="1631391" y="572382"/>
                  </a:lnTo>
                  <a:lnTo>
                    <a:pt x="0" y="572382"/>
                  </a:lnTo>
                  <a:close/>
                </a:path>
              </a:pathLst>
            </a:custGeom>
            <a:solidFill>
              <a:srgbClr val="FDE7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631391" cy="620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1"/>
                </a:lnSpc>
              </a:pPr>
              <a:r>
                <a:rPr lang="en-US" sz="1929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CONCLUSION</a:t>
              </a:r>
            </a:p>
            <a:p>
              <a:pPr algn="just">
                <a:lnSpc>
                  <a:spcPts val="2701"/>
                </a:lnSpc>
              </a:pPr>
              <a:r>
                <a:rPr lang="en-US" sz="1929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For clustering, K-Means performs best with overall validity scores. For classification, the RF model achieves the highest accuracy at 99.97%. For regression, both RF and </a:t>
              </a:r>
              <a:r>
                <a:rPr lang="en-US" sz="1929" b="1" dirty="0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XGBoost</a:t>
              </a:r>
              <a:r>
                <a:rPr lang="en-US" sz="1929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Regressor deliver top performance with an R² of 1.00.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606828" y="3070962"/>
            <a:ext cx="9525" cy="46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6"/>
              </a:lnSpc>
              <a:spcBef>
                <a:spcPct val="0"/>
              </a:spcBef>
            </a:pPr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355847" y="1759767"/>
            <a:ext cx="4960907" cy="898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176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  <a:p>
            <a:pPr algn="ctr">
              <a:lnSpc>
                <a:spcPts val="2464"/>
              </a:lnSpc>
            </a:pPr>
            <a:endParaRPr lang="en-US" sz="176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464"/>
              </a:lnSpc>
              <a:spcBef>
                <a:spcPct val="0"/>
              </a:spcBef>
            </a:pPr>
            <a:endParaRPr lang="en-US" sz="176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3" name="AutoShape 33"/>
          <p:cNvSpPr/>
          <p:nvPr/>
        </p:nvSpPr>
        <p:spPr>
          <a:xfrm flipH="1">
            <a:off x="8576946" y="9006818"/>
            <a:ext cx="10158" cy="312615"/>
          </a:xfrm>
          <a:prstGeom prst="line">
            <a:avLst/>
          </a:prstGeom>
          <a:ln w="38100" cap="flat">
            <a:solidFill>
              <a:srgbClr val="4C527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355847" y="2113633"/>
            <a:ext cx="5055552" cy="2516163"/>
            <a:chOff x="0" y="0"/>
            <a:chExt cx="1331503" cy="66269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31503" cy="662693"/>
            </a:xfrm>
            <a:custGeom>
              <a:avLst/>
              <a:gdLst/>
              <a:ahLst/>
              <a:cxnLst/>
              <a:rect l="l" t="t" r="r" b="b"/>
              <a:pathLst>
                <a:path w="1331503" h="662693">
                  <a:moveTo>
                    <a:pt x="0" y="0"/>
                  </a:moveTo>
                  <a:lnTo>
                    <a:pt x="1331503" y="0"/>
                  </a:lnTo>
                  <a:lnTo>
                    <a:pt x="1331503" y="662693"/>
                  </a:lnTo>
                  <a:lnTo>
                    <a:pt x="0" y="662693"/>
                  </a:lnTo>
                  <a:close/>
                </a:path>
              </a:pathLst>
            </a:custGeom>
            <a:solidFill>
              <a:srgbClr val="FDE7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1331503" cy="710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701"/>
                </a:lnSpc>
              </a:pPr>
              <a:r>
                <a:rPr lang="en-US" sz="192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This project analyzes social and clinical data to assess newborn health risks, using models to identify risk levels and key factors. A semi-supervised modelling approach has been implemented to achieve the goal of multi-health risk index.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355847" y="53050"/>
            <a:ext cx="1287714" cy="1287714"/>
          </a:xfrm>
          <a:custGeom>
            <a:avLst/>
            <a:gdLst/>
            <a:ahLst/>
            <a:cxnLst/>
            <a:rect l="l" t="t" r="r" b="b"/>
            <a:pathLst>
              <a:path w="1287714" h="1287714">
                <a:moveTo>
                  <a:pt x="0" y="0"/>
                </a:moveTo>
                <a:lnTo>
                  <a:pt x="1287714" y="0"/>
                </a:lnTo>
                <a:lnTo>
                  <a:pt x="1287714" y="1287714"/>
                </a:lnTo>
                <a:lnTo>
                  <a:pt x="0" y="1287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>
            <a:off x="8587104" y="6329145"/>
            <a:ext cx="0" cy="504410"/>
          </a:xfrm>
          <a:prstGeom prst="line">
            <a:avLst/>
          </a:prstGeom>
          <a:ln w="38100" cap="flat">
            <a:solidFill>
              <a:srgbClr val="4C527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>
            <a:off x="8562346" y="4374957"/>
            <a:ext cx="10158" cy="466725"/>
          </a:xfrm>
          <a:prstGeom prst="line">
            <a:avLst/>
          </a:prstGeom>
          <a:ln w="38100" cap="flat">
            <a:solidFill>
              <a:srgbClr val="4C527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>
            <a:off x="8557267" y="3370716"/>
            <a:ext cx="10158" cy="466725"/>
          </a:xfrm>
          <a:prstGeom prst="line">
            <a:avLst/>
          </a:prstGeom>
          <a:ln w="38100" cap="flat">
            <a:solidFill>
              <a:srgbClr val="4C527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" name="AutoShape 41"/>
          <p:cNvSpPr/>
          <p:nvPr/>
        </p:nvSpPr>
        <p:spPr>
          <a:xfrm>
            <a:off x="8528064" y="2468355"/>
            <a:ext cx="48882" cy="280147"/>
          </a:xfrm>
          <a:prstGeom prst="line">
            <a:avLst/>
          </a:prstGeom>
          <a:ln w="38100" cap="flat">
            <a:solidFill>
              <a:srgbClr val="4C527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42" name="Group 42"/>
          <p:cNvGrpSpPr/>
          <p:nvPr/>
        </p:nvGrpSpPr>
        <p:grpSpPr>
          <a:xfrm>
            <a:off x="11886866" y="1788342"/>
            <a:ext cx="6194187" cy="5878894"/>
            <a:chOff x="0" y="0"/>
            <a:chExt cx="1631391" cy="154835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631391" cy="1548351"/>
            </a:xfrm>
            <a:custGeom>
              <a:avLst/>
              <a:gdLst/>
              <a:ahLst/>
              <a:cxnLst/>
              <a:rect l="l" t="t" r="r" b="b"/>
              <a:pathLst>
                <a:path w="1631391" h="1548351">
                  <a:moveTo>
                    <a:pt x="0" y="0"/>
                  </a:moveTo>
                  <a:lnTo>
                    <a:pt x="1631391" y="0"/>
                  </a:lnTo>
                  <a:lnTo>
                    <a:pt x="1631391" y="1548351"/>
                  </a:lnTo>
                  <a:lnTo>
                    <a:pt x="0" y="1548351"/>
                  </a:lnTo>
                  <a:close/>
                </a:path>
              </a:pathLst>
            </a:custGeom>
            <a:solidFill>
              <a:srgbClr val="FDE7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1631391" cy="1595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1"/>
                </a:lnSpc>
              </a:pPr>
              <a:endParaRPr/>
            </a:p>
          </p:txBody>
        </p:sp>
      </p:grpSp>
      <p:graphicFrame>
        <p:nvGraphicFramePr>
          <p:cNvPr id="45" name="Object 45"/>
          <p:cNvGraphicFramePr/>
          <p:nvPr>
            <p:extLst>
              <p:ext uri="{D42A27DB-BD31-4B8C-83A1-F6EECF244321}">
                <p14:modId xmlns:p14="http://schemas.microsoft.com/office/powerpoint/2010/main" val="3788765194"/>
              </p:ext>
            </p:extLst>
          </p:nvPr>
        </p:nvGraphicFramePr>
        <p:xfrm>
          <a:off x="11495708" y="1512129"/>
          <a:ext cx="8881064" cy="3343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42400" imgH="3390900" progId="Excel.Sheet.12">
                  <p:embed/>
                </p:oleObj>
              </mc:Choice>
              <mc:Fallback>
                <p:oleObj name="Worksheet" r:id="rId3" imgW="9042400" imgH="3390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95708" y="1512129"/>
                        <a:ext cx="8881064" cy="33439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6"/>
          <p:cNvGraphicFramePr/>
          <p:nvPr>
            <p:extLst>
              <p:ext uri="{D42A27DB-BD31-4B8C-83A1-F6EECF244321}">
                <p14:modId xmlns:p14="http://schemas.microsoft.com/office/powerpoint/2010/main" val="4258224755"/>
              </p:ext>
            </p:extLst>
          </p:nvPr>
        </p:nvGraphicFramePr>
        <p:xfrm>
          <a:off x="11800112" y="3604078"/>
          <a:ext cx="6495455" cy="3254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6781800" imgH="3644900" progId="Excel.Sheet.12">
                  <p:embed/>
                </p:oleObj>
              </mc:Choice>
              <mc:Fallback>
                <p:oleObj name="Worksheet" r:id="rId5" imgW="6781800" imgH="3644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00112" y="3604078"/>
                        <a:ext cx="6495455" cy="32545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7"/>
          <p:cNvGraphicFramePr/>
          <p:nvPr>
            <p:extLst>
              <p:ext uri="{D42A27DB-BD31-4B8C-83A1-F6EECF244321}">
                <p14:modId xmlns:p14="http://schemas.microsoft.com/office/powerpoint/2010/main" val="2240438912"/>
              </p:ext>
            </p:extLst>
          </p:nvPr>
        </p:nvGraphicFramePr>
        <p:xfrm>
          <a:off x="11487241" y="5428378"/>
          <a:ext cx="8881064" cy="2742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9042400" imgH="3390900" progId="Excel.Sheet.12">
                  <p:embed/>
                </p:oleObj>
              </mc:Choice>
              <mc:Fallback>
                <p:oleObj name="Worksheet" r:id="rId7" imgW="9042400" imgH="3390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487241" y="5428378"/>
                        <a:ext cx="8881064" cy="27424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Box 48"/>
          <p:cNvSpPr txBox="1"/>
          <p:nvPr/>
        </p:nvSpPr>
        <p:spPr>
          <a:xfrm>
            <a:off x="3840204" y="5425"/>
            <a:ext cx="12237996" cy="466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6"/>
              </a:lnSpc>
              <a:spcBef>
                <a:spcPct val="0"/>
              </a:spcBef>
            </a:pPr>
            <a:r>
              <a:rPr lang="en-US" sz="276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Multi-Factor Health Risk Assessment for Newborns and  Adolescents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35583" y="4803167"/>
            <a:ext cx="4801437" cy="560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</a:pPr>
            <a:r>
              <a:rPr lang="en-US" sz="1932" b="1">
                <a:solidFill>
                  <a:srgbClr val="4C527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</a:t>
            </a:r>
          </a:p>
          <a:p>
            <a:pPr marL="417190" lvl="1" indent="-208595" algn="just">
              <a:lnSpc>
                <a:spcPts val="2705"/>
              </a:lnSpc>
              <a:buFont typeface="Arial"/>
              <a:buChar char="•"/>
            </a:pPr>
            <a:r>
              <a:rPr lang="en-US" sz="193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contains medical, demographic, and clinical factors for newborns and adolescents.</a:t>
            </a:r>
          </a:p>
          <a:p>
            <a:pPr marL="417190" lvl="1" indent="-208595" algn="just">
              <a:lnSpc>
                <a:spcPts val="2705"/>
              </a:lnSpc>
              <a:buFont typeface="Arial"/>
              <a:buChar char="•"/>
            </a:pPr>
            <a:r>
              <a:rPr lang="en-US" sz="193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has 62,714 rows × 28 features, mixing numerical and categorical data, with no missing values after cleaning.</a:t>
            </a:r>
          </a:p>
          <a:p>
            <a:pPr marL="417190" lvl="1" indent="-208595" algn="just">
              <a:lnSpc>
                <a:spcPts val="2705"/>
              </a:lnSpc>
              <a:buFont typeface="Arial"/>
              <a:buChar char="•"/>
            </a:pPr>
            <a:r>
              <a:rPr lang="en-US" sz="193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 groups include birth factors, adolescent health indicators,  parental/environmental factors.</a:t>
            </a:r>
          </a:p>
          <a:p>
            <a:pPr marL="417190" lvl="1" indent="-208595" algn="just">
              <a:lnSpc>
                <a:spcPts val="2705"/>
              </a:lnSpc>
              <a:buFont typeface="Arial"/>
              <a:buChar char="•"/>
            </a:pPr>
            <a:r>
              <a:rPr lang="en-US" sz="193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Used to train 3-label classification (Low Risk, Medium Risk and High Risk) combined Risk Index.</a:t>
            </a:r>
          </a:p>
          <a:p>
            <a:pPr algn="l">
              <a:lnSpc>
                <a:spcPts val="3815"/>
              </a:lnSpc>
              <a:spcBef>
                <a:spcPct val="0"/>
              </a:spcBef>
            </a:pPr>
            <a:endParaRPr lang="en-US" sz="1932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508486" y="4637376"/>
            <a:ext cx="2843179" cy="619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176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DESCRIPTION</a:t>
            </a:r>
          </a:p>
          <a:p>
            <a:pPr algn="ctr">
              <a:lnSpc>
                <a:spcPts val="2464"/>
              </a:lnSpc>
              <a:spcBef>
                <a:spcPct val="0"/>
              </a:spcBef>
            </a:pPr>
            <a:endParaRPr lang="en-US" sz="176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1990340" y="1837165"/>
            <a:ext cx="5769755" cy="34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1"/>
              </a:lnSpc>
            </a:pPr>
            <a:r>
              <a:rPr lang="en-US" sz="19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Results: Clustering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963700" y="3656165"/>
            <a:ext cx="5769755" cy="32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1"/>
              </a:lnSpc>
            </a:pPr>
            <a:r>
              <a:rPr lang="en-US" sz="19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Results: Classification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924485" y="5585413"/>
            <a:ext cx="5769755" cy="32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1"/>
              </a:lnSpc>
            </a:pPr>
            <a:r>
              <a:rPr lang="en-US" sz="19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Results: Regression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529976" y="440102"/>
            <a:ext cx="8109824" cy="323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1"/>
              </a:lnSpc>
            </a:pPr>
            <a:r>
              <a:rPr lang="en-US" sz="19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Vishvapavani Bhupathi,  Sai Annessha Veluri,  Sai Aravind Nelluri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00600" y="767476"/>
            <a:ext cx="9217521" cy="68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1"/>
              </a:lnSpc>
            </a:pPr>
            <a:r>
              <a:rPr lang="en-US" sz="19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Masters in Data Science</a:t>
            </a:r>
          </a:p>
          <a:p>
            <a:pPr algn="ctr">
              <a:lnSpc>
                <a:spcPts val="2701"/>
              </a:lnSpc>
              <a:spcBef>
                <a:spcPct val="0"/>
              </a:spcBef>
            </a:pPr>
            <a:r>
              <a:rPr lang="en-US" sz="19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University of Colorado, Boulder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250</Words>
  <Application>Microsoft Macintosh PowerPoint</Application>
  <PresentationFormat>Custom</PresentationFormat>
  <Paragraphs>25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Canva Sans Bold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</dc:title>
  <cp:lastModifiedBy>Vishvapavani Bhupathi</cp:lastModifiedBy>
  <cp:revision>5</cp:revision>
  <dcterms:created xsi:type="dcterms:W3CDTF">2006-08-16T00:00:00Z</dcterms:created>
  <dcterms:modified xsi:type="dcterms:W3CDTF">2025-11-21T23:24:30Z</dcterms:modified>
  <dc:identifier>DAG5Wr2akGw</dc:identifier>
</cp:coreProperties>
</file>